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6cf5c4b0f64dee" /><Relationship Type="http://schemas.openxmlformats.org/officeDocument/2006/relationships/extended-properties" Target="/docProps/app.xml" Id="Rd332e6dbfbac4756" /><Relationship Type="http://schemas.openxmlformats.org/officeDocument/2006/relationships/officeDocument" Target="/ppt/presentation.xml" Id="Rba5b9a437da14e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ebfb578fae4725"/>
  </p:sldMasterIdLst>
  <p:notesMasterIdLst>
    <p:notesMasterId xmlns:r="http://schemas.openxmlformats.org/officeDocument/2006/relationships" r:id="R8ff2234ee2694697"/>
  </p:notesMasterIdLst>
  <p:sldIdLst>
    <p:sldId xmlns:r="http://schemas.openxmlformats.org/officeDocument/2006/relationships" id="256" r:id="Rd723646ca3e549f4"/>
    <p:sldId xmlns:r="http://schemas.openxmlformats.org/officeDocument/2006/relationships" id="257" r:id="R5058733ba5704142"/>
    <p:sldId xmlns:r="http://schemas.openxmlformats.org/officeDocument/2006/relationships" id="258" r:id="R1fc4fdbb44d8446a"/>
    <p:sldId xmlns:r="http://schemas.openxmlformats.org/officeDocument/2006/relationships" id="259" r:id="R222f9a33dd504c87"/>
    <p:sldId xmlns:r="http://schemas.openxmlformats.org/officeDocument/2006/relationships" id="260" r:id="R61a8894b4e8a4c77"/>
    <p:sldId xmlns:r="http://schemas.openxmlformats.org/officeDocument/2006/relationships" id="261" r:id="R609975bae5974ac7"/>
    <p:sldId xmlns:r="http://schemas.openxmlformats.org/officeDocument/2006/relationships" id="262" r:id="Raa1008cf21504c85"/>
    <p:sldId xmlns:r="http://schemas.openxmlformats.org/officeDocument/2006/relationships" id="263" r:id="R087b2a6be11b4461"/>
    <p:sldId xmlns:r="http://schemas.openxmlformats.org/officeDocument/2006/relationships" id="264" r:id="R47e40981bbde43d6"/>
    <p:sldId xmlns:r="http://schemas.openxmlformats.org/officeDocument/2006/relationships" id="265" r:id="R7ee880dac4d84591"/>
    <p:sldId xmlns:r="http://schemas.openxmlformats.org/officeDocument/2006/relationships" id="266" r:id="Re83fae90f72c49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8d6acb73ff45a9" /><Relationship Type="http://schemas.openxmlformats.org/officeDocument/2006/relationships/slideMaster" Target="/ppt/slideMasters/slideMaster1.xml" Id="R65ebfb578fae4725" /><Relationship Type="http://schemas.openxmlformats.org/officeDocument/2006/relationships/notesMaster" Target="/ppt/notesMasters/notesMaster1.xml" Id="R8ff2234ee2694697" /><Relationship Type="http://schemas.openxmlformats.org/officeDocument/2006/relationships/presProps" Target="/ppt/presProps.xml" Id="R46b30fb532af4b62" /><Relationship Type="http://schemas.openxmlformats.org/officeDocument/2006/relationships/viewProps" Target="/ppt/viewProps.xml" Id="R2c6107062c384159" /><Relationship Type="http://schemas.openxmlformats.org/officeDocument/2006/relationships/tableStyles" Target="/ppt/tableStyles.xml" Id="R69562c8a41dd4a39" /><Relationship Type="http://schemas.openxmlformats.org/officeDocument/2006/relationships/slide" Target="/ppt/slides/slide1.xml" Id="Rd723646ca3e549f4" /><Relationship Type="http://schemas.openxmlformats.org/officeDocument/2006/relationships/slide" Target="/ppt/slides/slide2.xml" Id="R5058733ba5704142" /><Relationship Type="http://schemas.openxmlformats.org/officeDocument/2006/relationships/slide" Target="/ppt/slides/slide3.xml" Id="R1fc4fdbb44d8446a" /><Relationship Type="http://schemas.openxmlformats.org/officeDocument/2006/relationships/slide" Target="/ppt/slides/slide4.xml" Id="R222f9a33dd504c87" /><Relationship Type="http://schemas.openxmlformats.org/officeDocument/2006/relationships/slide" Target="/ppt/slides/slide5.xml" Id="R61a8894b4e8a4c77" /><Relationship Type="http://schemas.openxmlformats.org/officeDocument/2006/relationships/slide" Target="/ppt/slides/slide6.xml" Id="R609975bae5974ac7" /><Relationship Type="http://schemas.openxmlformats.org/officeDocument/2006/relationships/slide" Target="/ppt/slides/slide7.xml" Id="Raa1008cf21504c85" /><Relationship Type="http://schemas.openxmlformats.org/officeDocument/2006/relationships/slide" Target="/ppt/slides/slide8.xml" Id="R087b2a6be11b4461" /><Relationship Type="http://schemas.openxmlformats.org/officeDocument/2006/relationships/slide" Target="/ppt/slides/slide9.xml" Id="R47e40981bbde43d6" /><Relationship Type="http://schemas.openxmlformats.org/officeDocument/2006/relationships/slide" Target="/ppt/slides/slide10.xml" Id="R7ee880dac4d84591" /><Relationship Type="http://schemas.openxmlformats.org/officeDocument/2006/relationships/slide" Target="/ppt/slides/slide11.xml" Id="Re83fae90f72c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09869354f545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4a9d3e72694d25" /><Relationship Type="http://schemas.openxmlformats.org/officeDocument/2006/relationships/notesMaster" Target="/ppt/notesMasters/notesMaster1.xml" Id="R1f3a790cf29241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b5072bc84a491e" /><Relationship Type="http://schemas.openxmlformats.org/officeDocument/2006/relationships/notesMaster" Target="/ppt/notesMasters/notesMaster1.xml" Id="Rd00b791d434c49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e720b9e0c740f2" /><Relationship Type="http://schemas.openxmlformats.org/officeDocument/2006/relationships/notesMaster" Target="/ppt/notesMasters/notesMaster1.xml" Id="R339330ade53649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55bc17c6b2449e" /><Relationship Type="http://schemas.openxmlformats.org/officeDocument/2006/relationships/notesMaster" Target="/ppt/notesMasters/notesMaster1.xml" Id="Re71a168688cb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e7f7f9a6a54081" /><Relationship Type="http://schemas.openxmlformats.org/officeDocument/2006/relationships/notesMaster" Target="/ppt/notesMasters/notesMaster1.xml" Id="Ra9916e7d707d4a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25373555c346d2" /><Relationship Type="http://schemas.openxmlformats.org/officeDocument/2006/relationships/notesMaster" Target="/ppt/notesMasters/notesMaster1.xml" Id="R9bab52e1bcce4a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0c5a0a34d743ed" /><Relationship Type="http://schemas.openxmlformats.org/officeDocument/2006/relationships/notesMaster" Target="/ppt/notesMasters/notesMaster1.xml" Id="R4086cf64ba0c4f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5c44a5931f496b" /><Relationship Type="http://schemas.openxmlformats.org/officeDocument/2006/relationships/notesMaster" Target="/ppt/notesMasters/notesMaster1.xml" Id="R25624cf1cbec4e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3271c61c464aae" /><Relationship Type="http://schemas.openxmlformats.org/officeDocument/2006/relationships/notesMaster" Target="/ppt/notesMasters/notesMaster1.xml" Id="R03ce20ef695e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34d218148a463e" /><Relationship Type="http://schemas.openxmlformats.org/officeDocument/2006/relationships/notesMaster" Target="/ppt/notesMasters/notesMaster1.xml" Id="R9c3855f71b3840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8e5824acb742c5" /><Relationship Type="http://schemas.openxmlformats.org/officeDocument/2006/relationships/notesMaster" Target="/ppt/notesMasters/notesMaster1.xml" Id="R58536fefd25b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5a944854048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0054f044b349aa" /><Relationship Type="http://schemas.openxmlformats.org/officeDocument/2006/relationships/slideLayout" Target="/ppt/slideLayouts/slideLayout1.xml" Id="R1527fa47536941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27fa47536941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2a5bee8ef4985" /><Relationship Type="http://schemas.openxmlformats.org/officeDocument/2006/relationships/notesSlide" Target="/ppt/notesSlides/notesSlide1.xml" Id="R0541f6a73b7a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03cea2ed04e7e" /><Relationship Type="http://schemas.openxmlformats.org/officeDocument/2006/relationships/notesSlide" Target="/ppt/notesSlides/notesSlide2.xml" Id="R87618515de5e48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2c654f5864600" /><Relationship Type="http://schemas.openxmlformats.org/officeDocument/2006/relationships/notesSlide" Target="/ppt/notesSlides/notesSlide3.xml" Id="Rba1be1c142fd4a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b8bf24ab47c5" /><Relationship Type="http://schemas.openxmlformats.org/officeDocument/2006/relationships/notesSlide" Target="/ppt/notesSlides/notesSlide4.xml" Id="Ra3f4506c2a204b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0abbc406540f8" /><Relationship Type="http://schemas.openxmlformats.org/officeDocument/2006/relationships/notesSlide" Target="/ppt/notesSlides/notesSlide5.xml" Id="Re22cad1105364d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43a8e807f4bf7" /><Relationship Type="http://schemas.openxmlformats.org/officeDocument/2006/relationships/notesSlide" Target="/ppt/notesSlides/notesSlide6.xml" Id="R0ce48ecb793b41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76370017648a4" /><Relationship Type="http://schemas.openxmlformats.org/officeDocument/2006/relationships/notesSlide" Target="/ppt/notesSlides/notesSlide7.xml" Id="R31dc7917c87a40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e72d103584ff1" /><Relationship Type="http://schemas.openxmlformats.org/officeDocument/2006/relationships/notesSlide" Target="/ppt/notesSlides/notesSlide8.xml" Id="Rb2319c5a66a840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506aaeaac40e0" /><Relationship Type="http://schemas.openxmlformats.org/officeDocument/2006/relationships/notesSlide" Target="/ppt/notesSlides/notesSlide9.xml" Id="Rdcb688cf1b2d45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84d52b65e47b3" /><Relationship Type="http://schemas.openxmlformats.org/officeDocument/2006/relationships/notesSlide" Target="/ppt/notesSlides/notesSlide10.xml" Id="R9f33e83e4fbc4d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4bb90520c4e4d" /><Relationship Type="http://schemas.openxmlformats.org/officeDocument/2006/relationships/notesSlide" Target="/ppt/notesSlides/notesSlide11.xml" Id="R1029584f581f47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BE6ACBC-39D6-4BA3-9EB2-F21C3AC6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FEEDB2-BE53-4409-A69C-2F064300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9BA952-9D5E-4325-BAED-10218CD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E7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FE7EC"/>
                </a:solidFill>
                <a:latin typeface="Aptos"/>
                <a:ea typeface="Aptos"/>
                <a:cs typeface="Aptos"/>
              </a:rPr>
              <a:t>PROJECT PROGRESS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86719-97BA-4A5A-941E-152A0A90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ZERO TRUST DIGITAL PROVENANCE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E7740-9C8C-4089-89ED-54B0747B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90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From prototype to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provenance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FA0E1-9BFD-4D9A-B30A-C2CFBCE4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FE7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FE7EC"/>
                </a:solidFill>
                <a:latin typeface="Aptos"/>
                <a:ea typeface="Aptos"/>
                <a:cs typeface="Aptos"/>
              </a:rPr>
              <a:t>An evidence-led review of delivery, architecture, risk, and the focused path to production readiness.</a:t>
            </a:r>
          </a:p>
        </p:txBody>
      </p:sp>
      <p:sp>
        <p:nvSpPr>
          <p:cNvPr id="7" name="rail-dot-1">
            <a:extLst xmlns:a="http://schemas.openxmlformats.org/drawingml/2006/main">
              <a:ext uri="{FF2B5EF4-FFF2-40B4-BE49-F238E27FC236}">
                <a16:creationId xmlns:a16="http://schemas.microsoft.com/office/drawing/2014/main" id="{A8340B81-B0B1-44FF-9316-C11275F2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ail-line-1">
            <a:extLst xmlns:a="http://schemas.openxmlformats.org/drawingml/2006/main">
              <a:ext uri="{FF2B5EF4-FFF2-40B4-BE49-F238E27FC236}">
                <a16:creationId xmlns:a16="http://schemas.microsoft.com/office/drawing/2014/main" id="{08D70A13-40F4-4BC7-8B49-615B71E9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187B9-5035-49E3-A56D-358D9AC8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0" name="rail-dot-2">
            <a:extLst xmlns:a="http://schemas.openxmlformats.org/drawingml/2006/main">
              <a:ext uri="{FF2B5EF4-FFF2-40B4-BE49-F238E27FC236}">
                <a16:creationId xmlns:a16="http://schemas.microsoft.com/office/drawing/2014/main" id="{A1744784-1960-48C2-A49B-50E9CD5C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ail-line-2">
            <a:extLst xmlns:a="http://schemas.openxmlformats.org/drawingml/2006/main">
              <a:ext uri="{FF2B5EF4-FFF2-40B4-BE49-F238E27FC236}">
                <a16:creationId xmlns:a16="http://schemas.microsoft.com/office/drawing/2014/main" id="{CE24FB24-0635-49C6-AE72-EEC9715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62525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6B16E-1848-4FA3-8871-62E37A06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19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</a:t>
            </a:r>
          </a:p>
        </p:txBody>
      </p:sp>
      <p:sp>
        <p:nvSpPr>
          <p:cNvPr id="13" name="rail-dot-3">
            <a:extLst xmlns:a="http://schemas.openxmlformats.org/drawingml/2006/main">
              <a:ext uri="{FF2B5EF4-FFF2-40B4-BE49-F238E27FC236}">
                <a16:creationId xmlns:a16="http://schemas.microsoft.com/office/drawing/2014/main" id="{FFA92A43-128F-439C-A37B-6FB96C2F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ail-line-3">
            <a:extLst xmlns:a="http://schemas.openxmlformats.org/drawingml/2006/main">
              <a:ext uri="{FF2B5EF4-FFF2-40B4-BE49-F238E27FC236}">
                <a16:creationId xmlns:a16="http://schemas.microsoft.com/office/drawing/2014/main" id="{2B786E09-35D8-49EF-BCC6-300CD0AE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62525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51A87-C8F9-47D3-84B8-9DDE86E4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19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ANCHOR</a:t>
            </a:r>
          </a:p>
        </p:txBody>
      </p:sp>
      <p:sp>
        <p:nvSpPr>
          <p:cNvPr id="16" name="rail-dot-4">
            <a:extLst xmlns:a="http://schemas.openxmlformats.org/drawingml/2006/main">
              <a:ext uri="{FF2B5EF4-FFF2-40B4-BE49-F238E27FC236}">
                <a16:creationId xmlns:a16="http://schemas.microsoft.com/office/drawing/2014/main" id="{6FBBF149-E1AB-4D37-A0BB-AABC0C12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ail-line-4">
            <a:extLst xmlns:a="http://schemas.openxmlformats.org/drawingml/2006/main">
              <a:ext uri="{FF2B5EF4-FFF2-40B4-BE49-F238E27FC236}">
                <a16:creationId xmlns:a16="http://schemas.microsoft.com/office/drawing/2014/main" id="{BB4E4EF9-93A9-4490-9AD0-AC90553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62525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2AE03-C143-44A9-A86C-8C0F10B8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19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9" name="rail-dot-5">
            <a:extLst xmlns:a="http://schemas.openxmlformats.org/drawingml/2006/main">
              <a:ext uri="{FF2B5EF4-FFF2-40B4-BE49-F238E27FC236}">
                <a16:creationId xmlns:a16="http://schemas.microsoft.com/office/drawing/2014/main" id="{E1D15C06-652B-415D-B463-20406B96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6A3CB-A239-4038-857F-EAFA77D3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197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9C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9C45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9DD2C-A4D3-41F7-95B7-C65468BB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A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AC9"/>
                </a:solidFill>
                <a:latin typeface="Aptos"/>
                <a:ea typeface="Aptos"/>
                <a:cs typeface="Aptos"/>
              </a:rPr>
              <a:t>SRS v2.0 • SDS v1.0 • Current implementation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67486-7EC4-4AF8-854B-C1B9A1B9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293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753491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0A0126-F616-47B4-96C6-3A5349B4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2434237-43C8-4B03-A17A-EE964344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0E8CC0-BBB3-458C-8476-17DB9AB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PROGRESS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5C357-8B8C-4EC5-8B3E-B73BB062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The literal baseline is 74% complete — the working platform is further ahead.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0B870-B348-4162-887B-5FBC98E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73B9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2F73B9"/>
                </a:solidFill>
                <a:latin typeface="Georgia"/>
                <a:ea typeface="Georgia"/>
                <a:cs typeface="Georgia"/>
              </a:rPr>
              <a:t>74%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F3252-6DF1-43CA-B5A2-BB28A905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weighted completion across 21 SRS deliverables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7E697-EC6B-4C46-AACC-83B8FDF2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F8F78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5F8F78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6F792-08DE-491A-87BE-38816C66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E0541-DC02-4FD2-B732-A5BB378D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09800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69C45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D69C45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FDAF2-430B-403F-AE8F-7B669160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81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partial / superseded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3BE21-C155-44A7-BAA5-DCD34EC2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6F51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E46F51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1F60E-0727-4E98-AEE8-34C1D609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not implemented</a:t>
            </a:r>
          </a:p>
        </p:txBody>
      </p:sp>
      <p:sp>
        <p:nvSpPr>
          <p:cNvPr id="13" name="deliverable-1">
            <a:extLst xmlns:a="http://schemas.openxmlformats.org/drawingml/2006/main">
              <a:ext uri="{FF2B5EF4-FFF2-40B4-BE49-F238E27FC236}">
                <a16:creationId xmlns:a16="http://schemas.microsoft.com/office/drawing/2014/main" id="{AD7F9739-C87A-47EC-BF9A-3064FA96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eliverable-2">
            <a:extLst xmlns:a="http://schemas.openxmlformats.org/drawingml/2006/main">
              <a:ext uri="{FF2B5EF4-FFF2-40B4-BE49-F238E27FC236}">
                <a16:creationId xmlns:a16="http://schemas.microsoft.com/office/drawing/2014/main" id="{CF0FE13D-B233-4A76-B00B-CACC6D8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eliverable-3">
            <a:extLst xmlns:a="http://schemas.openxmlformats.org/drawingml/2006/main">
              <a:ext uri="{FF2B5EF4-FFF2-40B4-BE49-F238E27FC236}">
                <a16:creationId xmlns:a16="http://schemas.microsoft.com/office/drawing/2014/main" id="{1E142D34-626E-4333-A7FC-F50B462D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eliverable-4">
            <a:extLst xmlns:a="http://schemas.openxmlformats.org/drawingml/2006/main">
              <a:ext uri="{FF2B5EF4-FFF2-40B4-BE49-F238E27FC236}">
                <a16:creationId xmlns:a16="http://schemas.microsoft.com/office/drawing/2014/main" id="{D85ECD17-8A91-4A58-B09E-5B103F92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eliverable-5">
            <a:extLst xmlns:a="http://schemas.openxmlformats.org/drawingml/2006/main">
              <a:ext uri="{FF2B5EF4-FFF2-40B4-BE49-F238E27FC236}">
                <a16:creationId xmlns:a16="http://schemas.microsoft.com/office/drawing/2014/main" id="{2008C31A-A223-4B0C-9A3F-99D9C5BB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eliverable-6">
            <a:extLst xmlns:a="http://schemas.openxmlformats.org/drawingml/2006/main">
              <a:ext uri="{FF2B5EF4-FFF2-40B4-BE49-F238E27FC236}">
                <a16:creationId xmlns:a16="http://schemas.microsoft.com/office/drawing/2014/main" id="{7EB30529-659D-4E5F-B0A8-FCFC8C40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eliverable-7">
            <a:extLst xmlns:a="http://schemas.openxmlformats.org/drawingml/2006/main">
              <a:ext uri="{FF2B5EF4-FFF2-40B4-BE49-F238E27FC236}">
                <a16:creationId xmlns:a16="http://schemas.microsoft.com/office/drawing/2014/main" id="{02BF22E3-B723-4F22-BB3F-0E816AEA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eliverable-8">
            <a:extLst xmlns:a="http://schemas.openxmlformats.org/drawingml/2006/main">
              <a:ext uri="{FF2B5EF4-FFF2-40B4-BE49-F238E27FC236}">
                <a16:creationId xmlns:a16="http://schemas.microsoft.com/office/drawing/2014/main" id="{0698B528-10E5-4FC7-8E77-6204FA3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deliverable-9">
            <a:extLst xmlns:a="http://schemas.openxmlformats.org/drawingml/2006/main">
              <a:ext uri="{FF2B5EF4-FFF2-40B4-BE49-F238E27FC236}">
                <a16:creationId xmlns:a16="http://schemas.microsoft.com/office/drawing/2014/main" id="{CB6818E7-8B20-46FD-A395-8B60D9C4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deliverable-10">
            <a:extLst xmlns:a="http://schemas.openxmlformats.org/drawingml/2006/main">
              <a:ext uri="{FF2B5EF4-FFF2-40B4-BE49-F238E27FC236}">
                <a16:creationId xmlns:a16="http://schemas.microsoft.com/office/drawing/2014/main" id="{C46D03AE-A132-4A28-B6C4-F00ABD27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deliverable-11">
            <a:extLst xmlns:a="http://schemas.openxmlformats.org/drawingml/2006/main">
              <a:ext uri="{FF2B5EF4-FFF2-40B4-BE49-F238E27FC236}">
                <a16:creationId xmlns:a16="http://schemas.microsoft.com/office/drawing/2014/main" id="{D3D763BF-D6FA-4502-BC74-66D570D1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deliverable-12">
            <a:extLst xmlns:a="http://schemas.openxmlformats.org/drawingml/2006/main">
              <a:ext uri="{FF2B5EF4-FFF2-40B4-BE49-F238E27FC236}">
                <a16:creationId xmlns:a16="http://schemas.microsoft.com/office/drawing/2014/main" id="{CACCF63D-A8CB-4B4E-843B-973F6F00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deliverable-13">
            <a:extLst xmlns:a="http://schemas.openxmlformats.org/drawingml/2006/main">
              <a:ext uri="{FF2B5EF4-FFF2-40B4-BE49-F238E27FC236}">
                <a16:creationId xmlns:a16="http://schemas.microsoft.com/office/drawing/2014/main" id="{0C0E95D0-16FD-4C37-845E-B89DFCEA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deliverable-14">
            <a:extLst xmlns:a="http://schemas.openxmlformats.org/drawingml/2006/main">
              <a:ext uri="{FF2B5EF4-FFF2-40B4-BE49-F238E27FC236}">
                <a16:creationId xmlns:a16="http://schemas.microsoft.com/office/drawing/2014/main" id="{64E0120D-6909-4110-94CD-74B65C39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deliverable-15">
            <a:extLst xmlns:a="http://schemas.openxmlformats.org/drawingml/2006/main">
              <a:ext uri="{FF2B5EF4-FFF2-40B4-BE49-F238E27FC236}">
                <a16:creationId xmlns:a16="http://schemas.microsoft.com/office/drawing/2014/main" id="{3541BB54-DF29-4FB0-A846-E24F7640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deliverable-16">
            <a:extLst xmlns:a="http://schemas.openxmlformats.org/drawingml/2006/main">
              <a:ext uri="{FF2B5EF4-FFF2-40B4-BE49-F238E27FC236}">
                <a16:creationId xmlns:a16="http://schemas.microsoft.com/office/drawing/2014/main" id="{ED044E4E-EBA2-4A28-A7DE-A89DEF8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deliverable-17">
            <a:extLst xmlns:a="http://schemas.openxmlformats.org/drawingml/2006/main">
              <a:ext uri="{FF2B5EF4-FFF2-40B4-BE49-F238E27FC236}">
                <a16:creationId xmlns:a16="http://schemas.microsoft.com/office/drawing/2014/main" id="{24ABD36C-824E-435D-8A0B-BFD7CBE5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deliverable-18">
            <a:extLst xmlns:a="http://schemas.openxmlformats.org/drawingml/2006/main">
              <a:ext uri="{FF2B5EF4-FFF2-40B4-BE49-F238E27FC236}">
                <a16:creationId xmlns:a16="http://schemas.microsoft.com/office/drawing/2014/main" id="{560E8CD0-AEC3-4A18-9433-AFAF11AA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deliverable-19">
            <a:extLst xmlns:a="http://schemas.openxmlformats.org/drawingml/2006/main">
              <a:ext uri="{FF2B5EF4-FFF2-40B4-BE49-F238E27FC236}">
                <a16:creationId xmlns:a16="http://schemas.microsoft.com/office/drawing/2014/main" id="{0AB77A22-DCFE-4396-9EED-F990A00F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deliverable-20">
            <a:extLst xmlns:a="http://schemas.openxmlformats.org/drawingml/2006/main">
              <a:ext uri="{FF2B5EF4-FFF2-40B4-BE49-F238E27FC236}">
                <a16:creationId xmlns:a16="http://schemas.microsoft.com/office/drawing/2014/main" id="{E9FA17C0-3B35-4AA1-BA1A-07934108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deliverable-21">
            <a:extLst xmlns:a="http://schemas.openxmlformats.org/drawingml/2006/main">
              <a:ext uri="{FF2B5EF4-FFF2-40B4-BE49-F238E27FC236}">
                <a16:creationId xmlns:a16="http://schemas.microsoft.com/office/drawing/2014/main" id="{F812945F-35B6-4A7E-8CC2-638E0EA9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14750"/>
            <a:ext cx="428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FB7561-7AF9-4301-8D7F-D2CAE1BE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The estimate scores complete / partial / absent as 1.0 / 0.5 / 0.0.</a:t>
            </a:r>
          </a:p>
        </p:txBody>
      </p:sp>
      <p:sp>
        <p:nvSpPr>
          <p:cNvPr id="35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42C4C43-2152-415F-AE70-F145DCDD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174745-9C7A-4A86-A284-D64C7921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Management conclusion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E8FC87-49FD-474F-8502-46D9DA66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796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Feature-complete for an advanced academic demonstration after targeted blocker closure; public production approval remains conditional.</a:t>
            </a:r>
          </a:p>
        </p:txBody>
      </p:sp>
      <p:sp>
        <p:nvSpPr>
          <p:cNvPr id="3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7707668-DFCA-483F-A8C2-0A660A9F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89398CF-DEBA-4660-A43A-3FD9251B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4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5B73B2A-E42F-4CE9-95D8-BF6DE570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21865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E24A2C1-0904-4BDE-BD39-6ED1C39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6DE4D5-8FE3-4F55-AE19-4DBF9FA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BD976ED-DACD-41B4-BF75-85AFBEAA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SCOPE EVOLUTION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E1CBF-70E0-45A0-841C-B5E440D8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Implementation outgrew the original architecture — the formal baseline must catch 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8F59F-5A07-4AF9-A4C5-8B6A8B8B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ORIGINAL SRS / SDS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4458D-A345-496E-AF93-682B3248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IMPLEMENTED PLATFORM</a:t>
            </a:r>
          </a:p>
        </p:txBody>
      </p:sp>
      <p:sp>
        <p:nvSpPr>
          <p:cNvPr id="7" name="left-rule-0">
            <a:extLst xmlns:a="http://schemas.openxmlformats.org/drawingml/2006/main">
              <a:ext uri="{FF2B5EF4-FFF2-40B4-BE49-F238E27FC236}">
                <a16:creationId xmlns:a16="http://schemas.microsoft.com/office/drawing/2014/main" id="{AFF98AC9-6236-4046-922A-67643729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B31C3-CCE5-49B2-9DF1-A8A631F0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CORE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F47D1-31FE-446F-A46B-6CF3D963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384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Python FastAPI orchestrator</a:t>
            </a:r>
          </a:p>
        </p:txBody>
      </p:sp>
      <p:sp>
        <p:nvSpPr>
          <p:cNvPr id="10" name="right-rule-0">
            <a:extLst xmlns:a="http://schemas.openxmlformats.org/drawingml/2006/main">
              <a:ext uri="{FF2B5EF4-FFF2-40B4-BE49-F238E27FC236}">
                <a16:creationId xmlns:a16="http://schemas.microsoft.com/office/drawing/2014/main" id="{A22D6FBB-7B70-470F-BB28-A3ABEA30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9F373-F0D2-4B36-B383-A130CCC9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CORE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FDC68-80B2-44CF-8F95-7B4C49C9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NestJS 11 domain platform</a:t>
            </a:r>
          </a:p>
        </p:txBody>
      </p:sp>
      <p:sp>
        <p:nvSpPr>
          <p:cNvPr id="13" name="left-rule-1">
            <a:extLst xmlns:a="http://schemas.openxmlformats.org/drawingml/2006/main">
              <a:ext uri="{FF2B5EF4-FFF2-40B4-BE49-F238E27FC236}">
                <a16:creationId xmlns:a16="http://schemas.microsoft.com/office/drawing/2014/main" id="{C37C7E02-0A46-4D57-AC64-EC853871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3EC69-26DA-4DED-9E34-C79C0BE1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E6E86-3C57-4721-A8A4-C4AC37DC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670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SQLite registry and history</a:t>
            </a:r>
          </a:p>
        </p:txBody>
      </p:sp>
      <p:sp>
        <p:nvSpPr>
          <p:cNvPr id="16" name="right-rule-1">
            <a:extLst xmlns:a="http://schemas.openxmlformats.org/drawingml/2006/main">
              <a:ext uri="{FF2B5EF4-FFF2-40B4-BE49-F238E27FC236}">
                <a16:creationId xmlns:a16="http://schemas.microsoft.com/office/drawing/2014/main" id="{7FA91484-A517-4A3F-B214-1D42D70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79529-6C50-4DC4-81B0-8E0D6CB8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7189D-953B-463F-AB97-F7BFE422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MongoDB collections + transactions</a:t>
            </a:r>
          </a:p>
        </p:txBody>
      </p:sp>
      <p:sp>
        <p:nvSpPr>
          <p:cNvPr id="19" name="left-rule-2">
            <a:extLst xmlns:a="http://schemas.openxmlformats.org/drawingml/2006/main">
              <a:ext uri="{FF2B5EF4-FFF2-40B4-BE49-F238E27FC236}">
                <a16:creationId xmlns:a16="http://schemas.microsoft.com/office/drawing/2014/main" id="{95A897E3-E99B-40E1-A7E6-A558536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8FFA-FB29-4759-AB6D-7DFFFEB8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3C2B8-80D7-4A9D-BA91-37D9B90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ECDSA P-256 embedded in EXIF</a:t>
            </a:r>
          </a:p>
        </p:txBody>
      </p:sp>
      <p:sp>
        <p:nvSpPr>
          <p:cNvPr id="22" name="right-rule-2">
            <a:extLst xmlns:a="http://schemas.openxmlformats.org/drawingml/2006/main">
              <a:ext uri="{FF2B5EF4-FFF2-40B4-BE49-F238E27FC236}">
                <a16:creationId xmlns:a16="http://schemas.microsoft.com/office/drawing/2014/main" id="{3577E747-90D2-4329-AEC5-4E9C9726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1C130-CAF3-40C8-BB18-FBD26206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87146-C3B7-4E4A-8C94-B24D524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Ed25519 manifests + signed ledger</a:t>
            </a:r>
          </a:p>
        </p:txBody>
      </p:sp>
      <p:sp>
        <p:nvSpPr>
          <p:cNvPr id="25" name="left-rule-3">
            <a:extLst xmlns:a="http://schemas.openxmlformats.org/drawingml/2006/main">
              <a:ext uri="{FF2B5EF4-FFF2-40B4-BE49-F238E27FC236}">
                <a16:creationId xmlns:a16="http://schemas.microsoft.com/office/drawing/2014/main" id="{5A0D79D1-428B-4AD6-B43D-1B2424F0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C6D38-DD91-4101-BD5D-BC394D74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D75CEE-EDFF-4171-896B-92879F2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243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EfficientNet-B4 exported to ONNX</a:t>
            </a:r>
          </a:p>
        </p:txBody>
      </p:sp>
      <p:sp>
        <p:nvSpPr>
          <p:cNvPr id="28" name="right-rule-3">
            <a:extLst xmlns:a="http://schemas.openxmlformats.org/drawingml/2006/main">
              <a:ext uri="{FF2B5EF4-FFF2-40B4-BE49-F238E27FC236}">
                <a16:creationId xmlns:a16="http://schemas.microsoft.com/office/drawing/2014/main" id="{2D9EC2E2-125F-4655-BB77-DD336F97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775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9E17F-1ADE-4841-9AEE-33BE0A67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5EE2D-4DE2-4D1F-9DA9-C1772228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ConvNeXt/residual PyTorch service</a:t>
            </a:r>
          </a:p>
        </p:txBody>
      </p:sp>
      <p:sp>
        <p:nvSpPr>
          <p:cNvPr id="31" name="left-rule-4">
            <a:extLst xmlns:a="http://schemas.openxmlformats.org/drawingml/2006/main">
              <a:ext uri="{FF2B5EF4-FFF2-40B4-BE49-F238E27FC236}">
                <a16:creationId xmlns:a16="http://schemas.microsoft.com/office/drawing/2014/main" id="{8639CAEA-2A92-4D6D-AE87-670E9B42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B7D11B-614E-481B-93B1-40B9FE69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F58870-9EFA-4C5A-BD6F-6E5988A2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React 18 with Vite</a:t>
            </a:r>
          </a:p>
        </p:txBody>
      </p:sp>
      <p:sp>
        <p:nvSpPr>
          <p:cNvPr id="34" name="right-rule-4">
            <a:extLst xmlns:a="http://schemas.openxmlformats.org/drawingml/2006/main">
              <a:ext uri="{FF2B5EF4-FFF2-40B4-BE49-F238E27FC236}">
                <a16:creationId xmlns:a16="http://schemas.microsoft.com/office/drawing/2014/main" id="{15AF4C45-58AC-4238-943C-D7044478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86400"/>
            <a:ext cx="497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54540C-6BBA-4F79-8893-E51DAEE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0E0F40-C9B3-45CA-93DD-D1FAF4BD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Next.js 15 App Router</a:t>
            </a:r>
          </a:p>
        </p:txBody>
      </p:sp>
      <p:sp>
        <p:nvSpPr>
          <p:cNvPr id="37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1FE59C8E-8670-4FAA-80D9-B8C8AE6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3D6C4A-B4D0-4256-B9D0-3ADBEC5E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Design change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73C2444-6783-449F-A607-CE5BA5E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7DAED14-72D5-493F-A3D9-32820992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4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2ACECFD-4CFC-48F8-BDDA-607768F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1652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DEF823A-5F46-4C23-8E06-DE72037F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BCD3B1-5956-43C9-8AA2-5FF2E3AF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EFC3E17-7A99-4078-8480-C43B325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IMPLEMENTED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372FC-98FC-4354-A722-B4A0BB39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A complete provenance lifecycle now works in code.</a:t>
            </a:r>
          </a:p>
        </p:txBody>
      </p:sp>
      <p:sp>
        <p:nvSpPr>
          <p:cNvPr id="5" name="stage-01">
            <a:extLst xmlns:a="http://schemas.openxmlformats.org/drawingml/2006/main">
              <a:ext uri="{FF2B5EF4-FFF2-40B4-BE49-F238E27FC236}">
                <a16:creationId xmlns:a16="http://schemas.microsoft.com/office/drawing/2014/main" id="{30517F02-2076-41A0-9BE6-A49FD095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905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6" name="stage-01-accent">
            <a:extLst xmlns:a="http://schemas.openxmlformats.org/drawingml/2006/main">
              <a:ext uri="{FF2B5EF4-FFF2-40B4-BE49-F238E27FC236}">
                <a16:creationId xmlns:a16="http://schemas.microsoft.com/office/drawing/2014/main" id="{5D2ADFA0-995C-4FCA-95B2-FEC165A4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8D05B-D9B9-4AC4-A7B0-78E1C602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9D6F-2DD8-4DCD-8E17-F27109E1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Register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F26DB-6EEF-4F85-A22E-1096A2AD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hashes, metadata, owner</a:t>
            </a:r>
          </a:p>
        </p:txBody>
      </p:sp>
      <p:sp>
        <p:nvSpPr>
          <p:cNvPr id="10" name="stage-02">
            <a:extLst xmlns:a="http://schemas.openxmlformats.org/drawingml/2006/main">
              <a:ext uri="{FF2B5EF4-FFF2-40B4-BE49-F238E27FC236}">
                <a16:creationId xmlns:a16="http://schemas.microsoft.com/office/drawing/2014/main" id="{9C3CEEC2-A438-4ACC-BD34-C4839D8E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1905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11" name="stage-02-accent">
            <a:extLst xmlns:a="http://schemas.openxmlformats.org/drawingml/2006/main">
              <a:ext uri="{FF2B5EF4-FFF2-40B4-BE49-F238E27FC236}">
                <a16:creationId xmlns:a16="http://schemas.microsoft.com/office/drawing/2014/main" id="{EE1DE84E-2D48-4161-86D0-0C2081F7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3395F-64AF-4598-AE71-9E4F14F9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1C795-39D6-4041-B425-CBF606F8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B3AFE-A871-437B-A66A-559EADFC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canonical Ed25519 manifest</a:t>
            </a:r>
          </a:p>
        </p:txBody>
      </p:sp>
      <p:sp>
        <p:nvSpPr>
          <p:cNvPr id="15" name="stage-03">
            <a:extLst xmlns:a="http://schemas.openxmlformats.org/drawingml/2006/main">
              <a:ext uri="{FF2B5EF4-FFF2-40B4-BE49-F238E27FC236}">
                <a16:creationId xmlns:a16="http://schemas.microsoft.com/office/drawing/2014/main" id="{EF12EC2C-CCBD-4334-9DFD-26ECE8B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1905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16" name="stage-03-accent">
            <a:extLst xmlns:a="http://schemas.openxmlformats.org/drawingml/2006/main">
              <a:ext uri="{FF2B5EF4-FFF2-40B4-BE49-F238E27FC236}">
                <a16:creationId xmlns:a16="http://schemas.microsoft.com/office/drawing/2014/main" id="{D1FB1EB9-D8D2-4B24-AEC0-FF316C31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DFABF-8B80-4BA7-A1AA-12DE3FD9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19563-18F7-444A-A6D4-047F29F3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Anchor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4A586-4E51-4A0B-82BA-F910231B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ledger entry + Merkle proof</a:t>
            </a:r>
          </a:p>
        </p:txBody>
      </p:sp>
      <p:sp>
        <p:nvSpPr>
          <p:cNvPr id="20" name="stage-04">
            <a:extLst xmlns:a="http://schemas.openxmlformats.org/drawingml/2006/main">
              <a:ext uri="{FF2B5EF4-FFF2-40B4-BE49-F238E27FC236}">
                <a16:creationId xmlns:a16="http://schemas.microsoft.com/office/drawing/2014/main" id="{62D94AC2-DD29-409B-8752-D59E1127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1905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21" name="stage-04-accent">
            <a:extLst xmlns:a="http://schemas.openxmlformats.org/drawingml/2006/main">
              <a:ext uri="{FF2B5EF4-FFF2-40B4-BE49-F238E27FC236}">
                <a16:creationId xmlns:a16="http://schemas.microsoft.com/office/drawing/2014/main" id="{9E9B657A-99DF-446C-A2EC-F43145C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14A5C-A620-406E-807C-B289B345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75814-B9A8-40F4-A0CF-3142FEE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765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4450E-9F37-463E-84A3-9AC486B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exact / near match + AI</a:t>
            </a:r>
          </a:p>
        </p:txBody>
      </p:sp>
      <p:sp>
        <p:nvSpPr>
          <p:cNvPr id="25" name="stage-05">
            <a:extLst xmlns:a="http://schemas.openxmlformats.org/drawingml/2006/main">
              <a:ext uri="{FF2B5EF4-FFF2-40B4-BE49-F238E27FC236}">
                <a16:creationId xmlns:a16="http://schemas.microsoft.com/office/drawing/2014/main" id="{60770E5D-4EB6-47EE-8E28-9A969C86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1905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26" name="stage-05-accent">
            <a:extLst xmlns:a="http://schemas.openxmlformats.org/drawingml/2006/main">
              <a:ext uri="{FF2B5EF4-FFF2-40B4-BE49-F238E27FC236}">
                <a16:creationId xmlns:a16="http://schemas.microsoft.com/office/drawing/2014/main" id="{674025A6-8DAD-4CA4-B350-89EDFBDF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99D89-18A3-4084-9633-108C0574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9C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9C4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7BCAF5-FA4A-4A89-BDAA-89256F54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Explain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B8A5B-20B7-4FDC-9A58-0488014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337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scores, signals,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916AD5-9C52-4D33-9902-680D4300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9146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D076CB-1F2A-45CC-ABA5-5E9116D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146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BEE04B-C9CB-4D15-A19E-FB04ADE7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146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8BE71E-A7F8-49E1-992B-E9B85031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146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proof-1">
            <a:extLst xmlns:a="http://schemas.openxmlformats.org/drawingml/2006/main">
              <a:ext uri="{FF2B5EF4-FFF2-40B4-BE49-F238E27FC236}">
                <a16:creationId xmlns:a16="http://schemas.microsoft.com/office/drawing/2014/main" id="{53A073C3-2F7E-45A6-B56B-77B6CB7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15308A-3BFC-4984-A57E-DAC4EC0D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Versioned lineage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3671E4-36A0-4ADF-AFEF-5643274D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edits reference parents; revocation preserves history</a:t>
            </a:r>
          </a:p>
        </p:txBody>
      </p:sp>
      <p:sp>
        <p:nvSpPr>
          <p:cNvPr id="37" name="proof-2">
            <a:extLst xmlns:a="http://schemas.openxmlformats.org/drawingml/2006/main">
              <a:ext uri="{FF2B5EF4-FFF2-40B4-BE49-F238E27FC236}">
                <a16:creationId xmlns:a16="http://schemas.microsoft.com/office/drawing/2014/main" id="{F4DED840-B397-4287-A58B-F1200372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5"/>
          </a:solidFill>
          <a:ln xmlns:a="http://schemas.openxmlformats.org/drawingml/2006/main" w="9525">
            <a:solidFill>
              <a:srgbClr val="C9D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550EE2-160D-4CBD-AE11-93458ADC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Developer access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569A6A-9022-443A-8E01-7B4AD4A5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scoped API keys, rotation, usage, and throttling</a:t>
            </a:r>
          </a:p>
        </p:txBody>
      </p:sp>
      <p:sp>
        <p:nvSpPr>
          <p:cNvPr id="40" name="proof-3">
            <a:extLst xmlns:a="http://schemas.openxmlformats.org/drawingml/2006/main">
              <a:ext uri="{FF2B5EF4-FFF2-40B4-BE49-F238E27FC236}">
                <a16:creationId xmlns:a16="http://schemas.microsoft.com/office/drawing/2014/main" id="{1FBE6DD3-9A27-4FCE-9CFE-CF0EB6D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3F22B8-7550-4A0A-A280-C102E47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Operational surface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EB0958-6A20-41E7-BF01-BA822CBA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user and admin dashboards across 27 routes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C7B2FA3-5112-44AA-A697-81A3EFDD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5453589-19DB-478B-893C-66104AFD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4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A6E9446-CCC1-4198-B462-019C2457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50245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4425EF-E05A-485D-9BAF-BC5B5370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458E3E-9019-4931-9935-60255A5E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35ACDD-71E6-4DA9-A206-D3B3788D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VERIFICATION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A1E09-018F-4EAB-BF63-CCAC8BD6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Verification combines provenance, metadata, and AI evidence before it issues a verdict.</a:t>
            </a:r>
          </a:p>
        </p:txBody>
      </p:sp>
      <p:sp>
        <p:nvSpPr>
          <p:cNvPr id="5" name="stage-01">
            <a:extLst xmlns:a="http://schemas.openxmlformats.org/drawingml/2006/main">
              <a:ext uri="{FF2B5EF4-FFF2-40B4-BE49-F238E27FC236}">
                <a16:creationId xmlns:a16="http://schemas.microsoft.com/office/drawing/2014/main" id="{247EB7EF-4509-41BC-B802-600E2EF0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809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6" name="stage-01-accent">
            <a:extLst xmlns:a="http://schemas.openxmlformats.org/drawingml/2006/main">
              <a:ext uri="{FF2B5EF4-FFF2-40B4-BE49-F238E27FC236}">
                <a16:creationId xmlns:a16="http://schemas.microsoft.com/office/drawing/2014/main" id="{603D8C8B-EA40-4BDF-A886-E20BAC18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C753C-985A-4591-ABD4-3AFB6F3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F5F92-F869-483B-A6B6-89E2F65B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2585D-D85E-4775-9428-CDCB909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validated bytes</a:t>
            </a:r>
          </a:p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held in memory</a:t>
            </a:r>
          </a:p>
        </p:txBody>
      </p:sp>
      <p:sp>
        <p:nvSpPr>
          <p:cNvPr id="10" name="stage-02">
            <a:extLst xmlns:a="http://schemas.openxmlformats.org/drawingml/2006/main">
              <a:ext uri="{FF2B5EF4-FFF2-40B4-BE49-F238E27FC236}">
                <a16:creationId xmlns:a16="http://schemas.microsoft.com/office/drawing/2014/main" id="{8891B97A-9BF5-444A-9CD4-877F8799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809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11" name="stage-02-accent">
            <a:extLst xmlns:a="http://schemas.openxmlformats.org/drawingml/2006/main">
              <a:ext uri="{FF2B5EF4-FFF2-40B4-BE49-F238E27FC236}">
                <a16:creationId xmlns:a16="http://schemas.microsoft.com/office/drawing/2014/main" id="{EECC00E2-A5A4-444D-BEFE-3266E94F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E5B14-30AE-4E0D-AE9D-FC6E94AD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A1AC8-6996-4B36-8FED-9556CA1D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C8AE2-432B-4BE7-A4EB-AF1C2F6C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052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SHA-256, pHash, EXIF, XMP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2FC04-6499-453F-B1EF-B3E3D3D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670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DA16E-A686-4045-9E97-31BCA6C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provenance-lane">
            <a:extLst xmlns:a="http://schemas.openxmlformats.org/drawingml/2006/main">
              <a:ext uri="{FF2B5EF4-FFF2-40B4-BE49-F238E27FC236}">
                <a16:creationId xmlns:a16="http://schemas.microsoft.com/office/drawing/2014/main" id="{9B02EBA8-C505-4EF3-8306-E39E98C2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2647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1"/>
          </a:solidFill>
          <a:ln xmlns:a="http://schemas.openxmlformats.org/drawingml/2006/main" w="9525">
            <a:solidFill>
              <a:srgbClr val="A8C2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B90D6-6C6F-4494-B339-3E426DBA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PROVENANCE 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0FBDB-58B1-4E1D-835B-E2B6BB5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exact / pHash match</a:t>
            </a:r>
          </a:p>
          <a:p xmlns:a="http://schemas.openxmlformats.org/drawingml/2006/main">
            <a:pPr algn="l">
              <a:defRPr sz="12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manifest + ledger recomputation</a:t>
            </a:r>
          </a:p>
        </p:txBody>
      </p:sp>
      <p:sp>
        <p:nvSpPr>
          <p:cNvPr id="20" name="ai-lane">
            <a:extLst xmlns:a="http://schemas.openxmlformats.org/drawingml/2006/main">
              <a:ext uri="{FF2B5EF4-FFF2-40B4-BE49-F238E27FC236}">
                <a16:creationId xmlns:a16="http://schemas.microsoft.com/office/drawing/2014/main" id="{B0E17B94-61B1-430E-84B4-09C89D0C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48050"/>
            <a:ext cx="2647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C9"/>
          </a:solidFill>
          <a:ln xmlns:a="http://schemas.openxmlformats.org/drawingml/2006/main" w="9525">
            <a:solidFill>
              <a:srgbClr val="DCC5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E6C49-D327-4C22-AFB9-4F6BC87B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04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9C4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9C45"/>
                </a:solidFill>
                <a:latin typeface="Aptos"/>
                <a:ea typeface="Aptos"/>
                <a:cs typeface="Aptos"/>
              </a:rPr>
              <a:t>AI LANE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A3F80-02E5-4121-B1FD-648C6252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FastAPI inference</a:t>
            </a:r>
          </a:p>
          <a:p xmlns:a="http://schemas.openxmlformats.org/drawingml/2006/main">
            <a:pPr algn="l">
              <a:defRPr sz="12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timeout + fallback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86493-EE57-4841-9D0F-4694A026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670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stage-03">
            <a:extLst xmlns:a="http://schemas.openxmlformats.org/drawingml/2006/main">
              <a:ext uri="{FF2B5EF4-FFF2-40B4-BE49-F238E27FC236}">
                <a16:creationId xmlns:a16="http://schemas.microsoft.com/office/drawing/2014/main" id="{A494BA69-2B81-4DEE-A7B3-13355DB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15621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25" name="stage-03-accent">
            <a:extLst xmlns:a="http://schemas.openxmlformats.org/drawingml/2006/main">
              <a:ext uri="{FF2B5EF4-FFF2-40B4-BE49-F238E27FC236}">
                <a16:creationId xmlns:a16="http://schemas.microsoft.com/office/drawing/2014/main" id="{8495B4E2-18BC-432F-AC28-088AB4FE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869675-0D97-4C9F-AFA4-4C5350D5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11FBC-E728-4C3E-8D90-0ABC7742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Trust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5D41A-78B2-4082-B211-F31C0DDC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weighted evidence</a:t>
            </a:r>
          </a:p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+ hard caps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A150C-3869-4D2F-A12E-30F4B9FA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stage-04">
            <a:extLst xmlns:a="http://schemas.openxmlformats.org/drawingml/2006/main">
              <a:ext uri="{FF2B5EF4-FFF2-40B4-BE49-F238E27FC236}">
                <a16:creationId xmlns:a16="http://schemas.microsoft.com/office/drawing/2014/main" id="{14725F06-727E-4910-B95E-4529138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908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7"/>
            </a:solidFill>
            <a:prstDash val="solid"/>
          </a:ln>
        </p:spPr>
      </p:sp>
      <p:sp>
        <p:nvSpPr>
          <p:cNvPr id="31" name="stage-04-accent">
            <a:extLst xmlns:a="http://schemas.openxmlformats.org/drawingml/2006/main">
              <a:ext uri="{FF2B5EF4-FFF2-40B4-BE49-F238E27FC236}">
                <a16:creationId xmlns:a16="http://schemas.microsoft.com/office/drawing/2014/main" id="{2E113C95-710B-4A95-A62C-99C286CD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908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319C5F-5979-452F-8ECB-B40ADEC0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432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726102-DD96-418F-83E6-5125CC84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48000"/>
            <a:ext cx="1104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Persist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60290-04BA-45F0-BA5B-F3548C5E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505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immutable report</a:t>
            </a:r>
          </a:p>
          <a:p xmlns:a="http://schemas.openxmlformats.org/drawingml/2006/main">
            <a:pPr algn="l">
              <a:defRPr sz="97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+ policy snapshot</a:t>
            </a:r>
          </a:p>
        </p:txBody>
      </p:sp>
      <p:sp>
        <p:nvSpPr>
          <p:cNvPr id="35" name="lane-join">
            <a:extLst xmlns:a="http://schemas.openxmlformats.org/drawingml/2006/main">
              <a:ext uri="{FF2B5EF4-FFF2-40B4-BE49-F238E27FC236}">
                <a16:creationId xmlns:a16="http://schemas.microsoft.com/office/drawing/2014/main" id="{900C1959-022C-4F78-8C11-073BEAC0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sponse-band">
            <a:extLst xmlns:a="http://schemas.openxmlformats.org/drawingml/2006/main">
              <a:ext uri="{FF2B5EF4-FFF2-40B4-BE49-F238E27FC236}">
                <a16:creationId xmlns:a16="http://schemas.microsoft.com/office/drawing/2014/main" id="{E5ED6937-B32D-4842-A6D2-4F6F201A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8F8AB4-77C5-4E10-903E-B85E3FAF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4EB477-B672-4E80-83D5-04D06145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14925"/>
            <a:ext cx="902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verdict • classification • scores • matched provenance • metadata • signals • signature / ledger checks • processing time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5818ED-8F2A-4996-8A9F-A065A264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F01DA84-1A28-442A-AE85-B2F8936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4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E1CD032-1A7F-4C1E-9D74-0989017F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34524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DA63360-D9D5-4DA6-9349-0BB4AAD3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ACB9C7-AEED-4426-9918-EA98BD4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689748-8089-4FF4-B828-12BC8DFC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DELIVERABLE TRACEABILITY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77818-4EDD-4573-B51E-BE2955C0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Backend delivery leads; explainability and formal reporting remain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7CDDE-5D1E-4E62-B521-09E87543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T1 • MODEL</a:t>
            </a:r>
          </a:p>
        </p:txBody>
      </p:sp>
      <p:sp>
        <p:nvSpPr>
          <p:cNvPr id="6" name="track-0-0">
            <a:extLst xmlns:a="http://schemas.openxmlformats.org/drawingml/2006/main">
              <a:ext uri="{FF2B5EF4-FFF2-40B4-BE49-F238E27FC236}">
                <a16:creationId xmlns:a16="http://schemas.microsoft.com/office/drawing/2014/main" id="{15162B2E-EA88-4CFB-941B-080BDEA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204107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rack-0-1">
            <a:extLst xmlns:a="http://schemas.openxmlformats.org/drawingml/2006/main">
              <a:ext uri="{FF2B5EF4-FFF2-40B4-BE49-F238E27FC236}">
                <a16:creationId xmlns:a16="http://schemas.microsoft.com/office/drawing/2014/main" id="{5F628B8B-0DBC-476B-97A6-B3F4FBF9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821" y="2266950"/>
            <a:ext cx="204107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rack-0-2">
            <a:extLst xmlns:a="http://schemas.openxmlformats.org/drawingml/2006/main">
              <a:ext uri="{FF2B5EF4-FFF2-40B4-BE49-F238E27FC236}">
                <a16:creationId xmlns:a16="http://schemas.microsoft.com/office/drawing/2014/main" id="{214762EA-BE35-4BBE-B7EF-D9FFBEB7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893" y="2266950"/>
            <a:ext cx="68035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9AEF9-054E-4C19-ACB5-3AA84E71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3 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E879A-19F5-491C-B44F-DD755B9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9C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9C45"/>
                </a:solidFill>
                <a:latin typeface="Aptos"/>
                <a:ea typeface="Aptos"/>
                <a:cs typeface="Aptos"/>
              </a:rPr>
              <a:t>3 partial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D14F5-DA95-49A6-BCF8-739C55F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00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1 open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D64E4-080C-4D7A-8A8B-D000F9D2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3752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ONNX, S1–S6 pack, and cross-generator proof remain 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A6656-A057-4914-ADC5-63A3A63D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T2 • EXPERIENCE</a:t>
            </a:r>
          </a:p>
        </p:txBody>
      </p:sp>
      <p:sp>
        <p:nvSpPr>
          <p:cNvPr id="14" name="track-1-0">
            <a:extLst xmlns:a="http://schemas.openxmlformats.org/drawingml/2006/main">
              <a:ext uri="{FF2B5EF4-FFF2-40B4-BE49-F238E27FC236}">
                <a16:creationId xmlns:a16="http://schemas.microsoft.com/office/drawing/2014/main" id="{B67882E6-8DA2-4231-9765-AF8C1CA5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204107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rack-1-1">
            <a:extLst xmlns:a="http://schemas.openxmlformats.org/drawingml/2006/main">
              <a:ext uri="{FF2B5EF4-FFF2-40B4-BE49-F238E27FC236}">
                <a16:creationId xmlns:a16="http://schemas.microsoft.com/office/drawing/2014/main" id="{011B0323-E104-4C62-A083-CE06869C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821" y="3333750"/>
            <a:ext cx="204107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rack-1-2">
            <a:extLst xmlns:a="http://schemas.openxmlformats.org/drawingml/2006/main">
              <a:ext uri="{FF2B5EF4-FFF2-40B4-BE49-F238E27FC236}">
                <a16:creationId xmlns:a16="http://schemas.microsoft.com/office/drawing/2014/main" id="{E164C2A9-5966-4BEF-AD27-9C8B461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893" y="3333750"/>
            <a:ext cx="68035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1B20B-143C-4C5E-8C33-EEA25D0C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671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3 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191B0-C3E9-4CA1-8D7A-480DB4FF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671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9C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9C45"/>
                </a:solidFill>
                <a:latin typeface="Aptos"/>
                <a:ea typeface="Aptos"/>
                <a:cs typeface="Aptos"/>
              </a:rPr>
              <a:t>3 partial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66E9B-DE79-451E-97A4-FB09C8D6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671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1 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B7627-FCA0-46CC-B7C3-13270425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14700"/>
            <a:ext cx="3752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GradCAM and PDF reporting are the visible gaps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774F1-BB42-4188-B33F-A4FB10AC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T3 • PLATFORM</a:t>
            </a:r>
          </a:p>
        </p:txBody>
      </p:sp>
      <p:sp>
        <p:nvSpPr>
          <p:cNvPr id="22" name="track-2-0">
            <a:extLst xmlns:a="http://schemas.openxmlformats.org/drawingml/2006/main">
              <a:ext uri="{FF2B5EF4-FFF2-40B4-BE49-F238E27FC236}">
                <a16:creationId xmlns:a16="http://schemas.microsoft.com/office/drawing/2014/main" id="{9944E842-C66E-4333-B5E5-49AE4D7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408214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rack-2-1">
            <a:extLst xmlns:a="http://schemas.openxmlformats.org/drawingml/2006/main">
              <a:ext uri="{FF2B5EF4-FFF2-40B4-BE49-F238E27FC236}">
                <a16:creationId xmlns:a16="http://schemas.microsoft.com/office/drawing/2014/main" id="{7C9BD169-59B1-4E73-A418-D37BF22A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893" y="4400550"/>
            <a:ext cx="68035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7F69E-059D-411C-9C5E-358EF40D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339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6 complete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EDB9D-C79C-43C7-9A96-0E48D7F1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339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9C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9C45"/>
                </a:solidFill>
                <a:latin typeface="Aptos"/>
                <a:ea typeface="Aptos"/>
                <a:cs typeface="Aptos"/>
              </a:rPr>
              <a:t>1 partial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BE665-F91F-4900-8228-751BCB7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33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0 open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82156-8B7F-4C16-AE69-6665A3B9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81500"/>
            <a:ext cx="3752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Core API, trust, gateway, and Docker are implemented</a:t>
            </a:r>
          </a:p>
        </p:txBody>
      </p:sp>
      <p:sp>
        <p:nvSpPr>
          <p:cNvPr id="28" name="open-work-band">
            <a:extLst xmlns:a="http://schemas.openxmlformats.org/drawingml/2006/main">
              <a:ext uri="{FF2B5EF4-FFF2-40B4-BE49-F238E27FC236}">
                <a16:creationId xmlns:a16="http://schemas.microsoft.com/office/drawing/2014/main" id="{C0828BE6-82F0-4C3E-968F-088B1AD6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15308E-58CB-43CC-AE80-C2628F63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8E251-4650-412C-A073-FDAA42C4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578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T1.7 GradCAM explainability  •  T2.7 formatted PDF forensic report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EFB721-3CF8-470F-8C91-2DE87426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E403E00-3022-4DB3-8F16-DC68B68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3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A7F1781-5CC5-465F-B55F-4442FEDB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04885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C7A4477-DC27-4C7B-B4E6-F843AD15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DEE15D-17ED-4609-AE66-2A430562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56AE45D-25DF-4191-A998-DE9F82AF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ENGINEERING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18830-7195-437E-AE7A-ACC1F4AF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The build is healthy; production performance still lacks retained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68916-D3C2-4D5C-B9FB-7A737325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F8F78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5F8F78"/>
                </a:solidFill>
                <a:latin typeface="Georgia"/>
                <a:ea typeface="Georgia"/>
                <a:cs typeface="Georgia"/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49F84-190D-48AD-A9F3-9F180375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backend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15BA6-23FB-48CC-85C5-FA37779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526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73B9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2F73B9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588CF-1E47-4036-9701-8E57B831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765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test suites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0F678-EA93-410E-8437-F1252851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526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73B9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2F73B9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58836-5C2A-4A99-8BFF-739B06DE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765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frontend page routes</a:t>
            </a:r>
          </a:p>
        </p:txBody>
      </p:sp>
      <p:sp>
        <p:nvSpPr>
          <p:cNvPr id="11" name="checks-band">
            <a:extLst xmlns:a="http://schemas.openxmlformats.org/drawingml/2006/main">
              <a:ext uri="{FF2B5EF4-FFF2-40B4-BE49-F238E27FC236}">
                <a16:creationId xmlns:a16="http://schemas.microsoft.com/office/drawing/2014/main" id="{A9305247-1F6E-4C7D-A563-90D2E047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72FD4-6EA9-469C-A39F-FABACF97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D35D5-6E4C-4542-BFE3-FD33D627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 lint • typecheck • frontend lint • production build • AI container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C5B52-649B-44FC-BB6D-28211E3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5" name="metric-bg-0">
            <a:extLst xmlns:a="http://schemas.openxmlformats.org/drawingml/2006/main">
              <a:ext uri="{FF2B5EF4-FFF2-40B4-BE49-F238E27FC236}">
                <a16:creationId xmlns:a16="http://schemas.microsoft.com/office/drawing/2014/main" id="{F3608AE5-9354-47C0-9810-29117561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bar-0">
            <a:extLst xmlns:a="http://schemas.openxmlformats.org/drawingml/2006/main">
              <a:ext uri="{FF2B5EF4-FFF2-40B4-BE49-F238E27FC236}">
                <a16:creationId xmlns:a16="http://schemas.microsoft.com/office/drawing/2014/main" id="{CBD69226-DBF9-4B54-91F7-648065D7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424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8EB79-568D-419C-BAD0-4BE3BD01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52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94.84%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6D2B3-4C7A-4B55-BCA0-6DCC4890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9" name="metric-bg-1">
            <a:extLst xmlns:a="http://schemas.openxmlformats.org/drawingml/2006/main">
              <a:ext uri="{FF2B5EF4-FFF2-40B4-BE49-F238E27FC236}">
                <a16:creationId xmlns:a16="http://schemas.microsoft.com/office/drawing/2014/main" id="{91A7B16E-C8DD-4B0D-87C7-D16DC5A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bar-1">
            <a:extLst xmlns:a="http://schemas.openxmlformats.org/drawingml/2006/main">
              <a:ext uri="{FF2B5EF4-FFF2-40B4-BE49-F238E27FC236}">
                <a16:creationId xmlns:a16="http://schemas.microsoft.com/office/drawing/2014/main" id="{ECA8743D-F8E8-42CE-B4BD-12834D1F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424351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7CB96-D920-4B89-856D-8F4AE097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94.79%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2E243-4CF3-44DF-9E53-6123E1D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23" name="metric-bg-2">
            <a:extLst xmlns:a="http://schemas.openxmlformats.org/drawingml/2006/main">
              <a:ext uri="{FF2B5EF4-FFF2-40B4-BE49-F238E27FC236}">
                <a16:creationId xmlns:a16="http://schemas.microsoft.com/office/drawing/2014/main" id="{A03B7D1E-4C5E-469A-B30A-9AA479E7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244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metric-bar-2">
            <a:extLst xmlns:a="http://schemas.openxmlformats.org/drawingml/2006/main">
              <a:ext uri="{FF2B5EF4-FFF2-40B4-BE49-F238E27FC236}">
                <a16:creationId xmlns:a16="http://schemas.microsoft.com/office/drawing/2014/main" id="{83DBE3E1-7E4A-413E-A8F2-3D3A5CBF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24450"/>
            <a:ext cx="442034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5D193-F503-4C46-B39F-A31BC05E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768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98.74%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1DC9B-31EE-4429-A39F-3A72A9C4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27" name="metric-bg-3">
            <a:extLst xmlns:a="http://schemas.openxmlformats.org/drawingml/2006/main">
              <a:ext uri="{FF2B5EF4-FFF2-40B4-BE49-F238E27FC236}">
                <a16:creationId xmlns:a16="http://schemas.microsoft.com/office/drawing/2014/main" id="{950820E1-1089-4835-A6A8-A43B1B08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metric-bar-3">
            <a:extLst xmlns:a="http://schemas.openxmlformats.org/drawingml/2006/main">
              <a:ext uri="{FF2B5EF4-FFF2-40B4-BE49-F238E27FC236}">
                <a16:creationId xmlns:a16="http://schemas.microsoft.com/office/drawing/2014/main" id="{F90920E9-6BDE-4E89-8C88-AA95704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44248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7B3DA-10BE-485D-AFAA-847EA417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98.84%</a:t>
            </a:r>
          </a:p>
        </p:txBody>
      </p:sp>
      <p:sp>
        <p:nvSpPr>
          <p:cNvPr id="30" name="missing-proof">
            <a:extLst xmlns:a="http://schemas.openxmlformats.org/drawingml/2006/main">
              <a:ext uri="{FF2B5EF4-FFF2-40B4-BE49-F238E27FC236}">
                <a16:creationId xmlns:a16="http://schemas.microsoft.com/office/drawing/2014/main" id="{E0EDD475-4D4E-4EFF-8F56-CA42273A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388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4962F-2128-4680-88BD-FA8E8FC4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EVIDENCE STILL REQUIRED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5A1C23-B2F7-467B-8971-0FCE03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p50 / p95 / p99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A345A5-C861-4239-B76C-24021F6E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API, database, ledger, and inference latency on declared hardware</a:t>
            </a:r>
          </a:p>
        </p:txBody>
      </p:sp>
      <p:sp>
        <p:nvSpPr>
          <p:cNvPr id="34" name="proof-rule-1">
            <a:extLst xmlns:a="http://schemas.openxmlformats.org/drawingml/2006/main">
              <a:ext uri="{FF2B5EF4-FFF2-40B4-BE49-F238E27FC236}">
                <a16:creationId xmlns:a16="http://schemas.microsoft.com/office/drawing/2014/main" id="{14EC05A2-ED8A-4C23-832B-E7DFFE10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6849C2-B97A-417C-9C29-8F2ED4D1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00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Load + concurrency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5B9F6A-5AB4-43C7-A719-56402CC0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3105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throughput, error rate, CPU, memory, recovery behavior</a:t>
            </a:r>
          </a:p>
        </p:txBody>
      </p:sp>
      <p:sp>
        <p:nvSpPr>
          <p:cNvPr id="3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C5AFD4-E60F-41EE-8CF7-6FA4556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5BE7341-D35D-4A94-B797-620B066C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3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DB1F9AF0-663F-4B06-B8C9-BC294478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99726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20CE3EE-F03F-47DE-BA4B-508289FF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8F17CD-3B05-47AD-9DDE-BA06DF14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0C6D03-AE8F-439D-8CAC-17981BB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E7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FE7EC"/>
                </a:solidFill>
                <a:latin typeface="Aptos"/>
                <a:ea typeface="Aptos"/>
                <a:cs typeface="Aptos"/>
              </a:rPr>
              <a:t>AI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BF1E5-4CF2-421D-A656-6C0F5003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High validation scores do not guarantee generator robustness.</a:t>
            </a:r>
          </a:p>
        </p:txBody>
      </p:sp>
      <p:sp>
        <p:nvSpPr>
          <p:cNvPr id="5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20D4A44D-FEFB-48F1-A842-26E4CC7F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81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973D6-6182-4CE6-94B4-B768A161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CC6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CC6E8"/>
                </a:solidFill>
                <a:latin typeface="Aptos"/>
                <a:ea typeface="Aptos"/>
                <a:cs typeface="Aptos"/>
              </a:rPr>
              <a:t>CHECKPOINT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9C97B-AAC6-47DC-9886-48F5FF9A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94.84%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B603D-0F61-4667-A732-F65DCCB0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E7E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FE7EC"/>
                </a:solidFill>
                <a:latin typeface="Aptos"/>
                <a:ea typeface="Aptos"/>
                <a:cs typeface="Aptos"/>
              </a:rPr>
              <a:t>validation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B1053-A2EF-4774-B9B5-C9E2C3ED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F8F78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5F8F78"/>
                </a:solidFill>
                <a:latin typeface="Georgia"/>
                <a:ea typeface="Georgia"/>
                <a:cs typeface="Georgia"/>
              </a:rPr>
              <a:t>98.84%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0D6DA-175F-44AB-9CF2-0674D95B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FE7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FE7EC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11" name="regression-panel">
            <a:extLst xmlns:a="http://schemas.openxmlformats.org/drawingml/2006/main">
              <a:ext uri="{FF2B5EF4-FFF2-40B4-BE49-F238E27FC236}">
                <a16:creationId xmlns:a16="http://schemas.microsoft.com/office/drawing/2014/main" id="{804B054E-4180-4D1F-A4CB-28C2FA1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5734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2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44978-94E8-476F-847B-A27AE9AB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14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B1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0B19F"/>
                </a:solidFill>
                <a:latin typeface="Aptos"/>
                <a:ea typeface="Aptos"/>
                <a:cs typeface="Aptos"/>
              </a:rPr>
              <a:t>KNOWN REGRESSION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DF1AD-84A0-4F2D-B245-CB29137F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956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0.42%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CC94E-45BE-4938-B00E-652203B8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4667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D9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D9D0"/>
                </a:solidFill>
                <a:latin typeface="Aptos"/>
                <a:ea typeface="Aptos"/>
                <a:cs typeface="Aptos"/>
              </a:rPr>
              <a:t>AI probability for an edited, watermark-removed Gemini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860CC-9786-4B4F-B30F-55141596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480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real photographs scored 0.51%, 0.86%, and 1.58% — threshold tuning alone cannot safely separate the sample.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A5E99-05BD-40CD-AB41-8DCB53C5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Release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D500A-2868-4E19-ADC2-A8523151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769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generator-held-out evaluation + camera false-positive gate + known-sample regression pack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36B52C-B1B9-4631-87FE-5211D93D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D9D9741-53BD-4961-9745-D6B50E64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A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8BAC9"/>
                </a:solidFill>
                <a:latin typeface="Aptos"/>
                <a:ea typeface="Aptos"/>
                <a:cs typeface="Aptos"/>
              </a:rPr>
              <a:t>AI-Service model card • executed regression probe • 20 Sep 2026</a:t>
            </a:r>
          </a:p>
        </p:txBody>
      </p:sp>
      <p:sp>
        <p:nvSpPr>
          <p:cNvPr id="2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7691CF4-A21F-43A9-B923-57140BE9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07829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4C15B90-6A08-445C-A50A-A4CB850B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58B2F9-016E-40B9-B125-459D9E7C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1AA959-BA41-443C-BFA4-CB5ADEE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PRODUCTION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D2603-09E0-41F7-A617-79EB407F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Four issues determine whether public production exposure is responsible.</a:t>
            </a:r>
          </a:p>
        </p:txBody>
      </p:sp>
      <p:sp>
        <p:nvSpPr>
          <p:cNvPr id="5" name="risk-level-0">
            <a:extLst xmlns:a="http://schemas.openxmlformats.org/drawingml/2006/main">
              <a:ext uri="{FF2B5EF4-FFF2-40B4-BE49-F238E27FC236}">
                <a16:creationId xmlns:a16="http://schemas.microsoft.com/office/drawing/2014/main" id="{D9EC9516-3321-4C1B-88E8-ED3130F0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0A6E4-ABDD-4F14-A686-909466F9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23601-7D42-4210-9820-FF009FC9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28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Unauthenticated role creation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DAEF0-6295-4139-865D-4E272923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Close POST /roles or enforce super-admin authorization</a:t>
            </a:r>
          </a:p>
        </p:txBody>
      </p:sp>
      <p:sp>
        <p:nvSpPr>
          <p:cNvPr id="9" name="risk-rule-0">
            <a:extLst xmlns:a="http://schemas.openxmlformats.org/drawingml/2006/main">
              <a:ext uri="{FF2B5EF4-FFF2-40B4-BE49-F238E27FC236}">
                <a16:creationId xmlns:a16="http://schemas.microsoft.com/office/drawing/2014/main" id="{B4C82C98-45EF-46C7-BB2E-FBDD7566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isk-level-1">
            <a:extLst xmlns:a="http://schemas.openxmlformats.org/drawingml/2006/main">
              <a:ext uri="{FF2B5EF4-FFF2-40B4-BE49-F238E27FC236}">
                <a16:creationId xmlns:a16="http://schemas.microsoft.com/office/drawing/2014/main" id="{59A83774-C0E3-48A4-B3E0-363EF9DA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5B656-FF62-4FC5-A5D6-28C1336F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D5B25-00AB-4A7B-8273-2CADC874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AI cross-generator false negatives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C8FBE-39A0-4683-B83C-2845BE39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Retrain and enforce held-out promotion gates</a:t>
            </a:r>
          </a:p>
        </p:txBody>
      </p:sp>
      <p:sp>
        <p:nvSpPr>
          <p:cNvPr id="14" name="risk-rule-1">
            <a:extLst xmlns:a="http://schemas.openxmlformats.org/drawingml/2006/main">
              <a:ext uri="{FF2B5EF4-FFF2-40B4-BE49-F238E27FC236}">
                <a16:creationId xmlns:a16="http://schemas.microsoft.com/office/drawing/2014/main" id="{27A0A3B8-7951-4AC8-81E2-4EED1874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62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isk-level-2">
            <a:extLst xmlns:a="http://schemas.openxmlformats.org/drawingml/2006/main">
              <a:ext uri="{FF2B5EF4-FFF2-40B4-BE49-F238E27FC236}">
                <a16:creationId xmlns:a16="http://schemas.microsoft.com/office/drawing/2014/main" id="{8F8FC5A7-C282-4FF5-83EA-33CA80B2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10ED2-58E7-4269-8632-C9C465E6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E2488-D551-4500-B1DD-152DF4F1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Performance targets unverified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7BE17-CA83-4D56-871B-9E4BAAF7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00475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Publish reproducible latency and load evidence</a:t>
            </a:r>
          </a:p>
        </p:txBody>
      </p:sp>
      <p:sp>
        <p:nvSpPr>
          <p:cNvPr id="19" name="risk-rule-2">
            <a:extLst xmlns:a="http://schemas.openxmlformats.org/drawingml/2006/main">
              <a:ext uri="{FF2B5EF4-FFF2-40B4-BE49-F238E27FC236}">
                <a16:creationId xmlns:a16="http://schemas.microsoft.com/office/drawing/2014/main" id="{A068615F-D632-4308-BD46-DED953BD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434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isk-level-3">
            <a:extLst xmlns:a="http://schemas.openxmlformats.org/drawingml/2006/main">
              <a:ext uri="{FF2B5EF4-FFF2-40B4-BE49-F238E27FC236}">
                <a16:creationId xmlns:a16="http://schemas.microsoft.com/office/drawing/2014/main" id="{FF9004A7-0B2E-43ED-9530-1417FD7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DFC21-75B0-41B4-A03D-2663CF92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B4AA4-844C-44F3-A32F-C138835B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720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SRS / SDS architecture drift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ECB2F-1034-4A2C-A82D-C2339793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81525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Issue and approve a current change baseline</a:t>
            </a:r>
          </a:p>
        </p:txBody>
      </p:sp>
      <p:sp>
        <p:nvSpPr>
          <p:cNvPr id="24" name="risk-rule-3">
            <a:extLst xmlns:a="http://schemas.openxmlformats.org/drawingml/2006/main">
              <a:ext uri="{FF2B5EF4-FFF2-40B4-BE49-F238E27FC236}">
                <a16:creationId xmlns:a16="http://schemas.microsoft.com/office/drawing/2014/main" id="{2E6A0953-7907-4697-9C3D-421716D3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econdary-risk-band">
            <a:extLst xmlns:a="http://schemas.openxmlformats.org/drawingml/2006/main">
              <a:ext uri="{FF2B5EF4-FFF2-40B4-BE49-F238E27FC236}">
                <a16:creationId xmlns:a16="http://schemas.microsoft.com/office/drawing/2014/main" id="{0E1434CB-B35D-4162-8173-44B08C00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1FD949-F44C-4BA9-8814-B379EE56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0547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D7605-4F61-498A-8EFD-17A29FB7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388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External C2PA validation • multi-instance ledger leadership • shared rate limits • full E2E suite • PDF reporting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370317-2677-45EA-A2BC-8DC49D19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1203926-3665-4772-848C-65C9397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3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90035A2-1E29-4C01-A0C0-5D6ACA85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88440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FAF6A0A-E6B5-4EFE-BF7E-4CEE8F2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C84AD61-2E38-4FE8-9143-1E227A64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327742-5F0E-44E1-911F-F8B4FEBE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COMPLETION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EA23B-08B7-4395-ABF2-AB715296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Completion is a three-gate program, not a broad rewrite.</a:t>
            </a:r>
          </a:p>
        </p:txBody>
      </p:sp>
      <p:sp>
        <p:nvSpPr>
          <p:cNvPr id="5" name="phase-A">
            <a:extLst xmlns:a="http://schemas.openxmlformats.org/drawingml/2006/main">
              <a:ext uri="{FF2B5EF4-FFF2-40B4-BE49-F238E27FC236}">
                <a16:creationId xmlns:a16="http://schemas.microsoft.com/office/drawing/2014/main" id="{34C4924A-FC58-49F8-8D2A-F51B264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D7"/>
            </a:solidFill>
            <a:prstDash val="solid"/>
          </a:ln>
        </p:spPr>
      </p:sp>
      <p:sp>
        <p:nvSpPr>
          <p:cNvPr id="6" name="phase-A-accent">
            <a:extLst xmlns:a="http://schemas.openxmlformats.org/drawingml/2006/main">
              <a:ext uri="{FF2B5EF4-FFF2-40B4-BE49-F238E27FC236}">
                <a16:creationId xmlns:a16="http://schemas.microsoft.com/office/drawing/2014/main" id="{B35FCB9D-2737-4A24-8B66-9D480495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phase-A-marker">
            <a:extLst xmlns:a="http://schemas.openxmlformats.org/drawingml/2006/main">
              <a:ext uri="{FF2B5EF4-FFF2-40B4-BE49-F238E27FC236}">
                <a16:creationId xmlns:a16="http://schemas.microsoft.com/office/drawing/2014/main" id="{7E700621-329B-4D39-8831-2B5716F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64831-0A08-4D3C-8A1C-D6AA0D0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CB3B0-AFB0-46CD-A041-A70A6B35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52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Production blockers</a:t>
            </a:r>
          </a:p>
        </p:txBody>
      </p:sp>
      <p:sp>
        <p:nvSpPr>
          <p:cNvPr id="10" name="phase-A-dot-0">
            <a:extLst xmlns:a="http://schemas.openxmlformats.org/drawingml/2006/main">
              <a:ext uri="{FF2B5EF4-FFF2-40B4-BE49-F238E27FC236}">
                <a16:creationId xmlns:a16="http://schemas.microsoft.com/office/drawing/2014/main" id="{46B354C0-D695-470D-9D3B-4BEF89B3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E1221-BD58-4B32-BF99-524CEA6A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protect role mutation</a:t>
            </a:r>
          </a:p>
        </p:txBody>
      </p:sp>
      <p:sp>
        <p:nvSpPr>
          <p:cNvPr id="12" name="phase-A-dot-1">
            <a:extLst xmlns:a="http://schemas.openxmlformats.org/drawingml/2006/main">
              <a:ext uri="{FF2B5EF4-FFF2-40B4-BE49-F238E27FC236}">
                <a16:creationId xmlns:a16="http://schemas.microsoft.com/office/drawing/2014/main" id="{AAA2B3C9-A355-4E3B-AD61-07F79597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83F6E-7249-46BC-93D3-ABDE4A1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rotate and provision secrets</a:t>
            </a:r>
          </a:p>
        </p:txBody>
      </p:sp>
      <p:sp>
        <p:nvSpPr>
          <p:cNvPr id="14" name="phase-A-dot-2">
            <a:extLst xmlns:a="http://schemas.openxmlformats.org/drawingml/2006/main">
              <a:ext uri="{FF2B5EF4-FFF2-40B4-BE49-F238E27FC236}">
                <a16:creationId xmlns:a16="http://schemas.microsoft.com/office/drawing/2014/main" id="{85AD7A6C-9954-4D5E-BDF0-A8CDFD9F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9D7B1-0929-428A-BCE1-CFD23BA5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prove MongoDB transactions</a:t>
            </a:r>
          </a:p>
        </p:txBody>
      </p:sp>
      <p:sp>
        <p:nvSpPr>
          <p:cNvPr id="16" name="phase-A-dot-3">
            <a:extLst xmlns:a="http://schemas.openxmlformats.org/drawingml/2006/main">
              <a:ext uri="{FF2B5EF4-FFF2-40B4-BE49-F238E27FC236}">
                <a16:creationId xmlns:a16="http://schemas.microsoft.com/office/drawing/2014/main" id="{664145B3-2D30-4330-B042-7E6C316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A06DA-1732-4925-A13A-153BA06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run S1–S7 + load tests</a:t>
            </a:r>
          </a:p>
        </p:txBody>
      </p:sp>
      <p:sp>
        <p:nvSpPr>
          <p:cNvPr id="18" name="phase-B">
            <a:extLst xmlns:a="http://schemas.openxmlformats.org/drawingml/2006/main">
              <a:ext uri="{FF2B5EF4-FFF2-40B4-BE49-F238E27FC236}">
                <a16:creationId xmlns:a16="http://schemas.microsoft.com/office/drawing/2014/main" id="{9054527A-8D7D-4D46-A054-2BB434B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D7"/>
            </a:solidFill>
            <a:prstDash val="solid"/>
          </a:ln>
        </p:spPr>
      </p:sp>
      <p:sp>
        <p:nvSpPr>
          <p:cNvPr id="19" name="phase-B-accent">
            <a:extLst xmlns:a="http://schemas.openxmlformats.org/drawingml/2006/main">
              <a:ext uri="{FF2B5EF4-FFF2-40B4-BE49-F238E27FC236}">
                <a16:creationId xmlns:a16="http://schemas.microsoft.com/office/drawing/2014/main" id="{A4BF9FAD-BCFE-42D1-84D0-E20144E5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phase-B-marker">
            <a:extLst xmlns:a="http://schemas.openxmlformats.org/drawingml/2006/main">
              <a:ext uri="{FF2B5EF4-FFF2-40B4-BE49-F238E27FC236}">
                <a16:creationId xmlns:a16="http://schemas.microsoft.com/office/drawing/2014/main" id="{09696A50-C072-41D3-A1E4-5319E647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07729-A9C1-42BF-B61D-1DA9A50C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F1DF7-905D-4E82-9B82-92A5187D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AI quality</a:t>
            </a:r>
          </a:p>
        </p:txBody>
      </p:sp>
      <p:sp>
        <p:nvSpPr>
          <p:cNvPr id="23" name="phase-B-dot-0">
            <a:extLst xmlns:a="http://schemas.openxmlformats.org/drawingml/2006/main">
              <a:ext uri="{FF2B5EF4-FFF2-40B4-BE49-F238E27FC236}">
                <a16:creationId xmlns:a16="http://schemas.microsoft.com/office/drawing/2014/main" id="{A0F338F1-D229-440C-965A-7772E684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6F4D0-43E0-4BD3-A9EE-6D75254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versioned generator corpus</a:t>
            </a:r>
          </a:p>
        </p:txBody>
      </p:sp>
      <p:sp>
        <p:nvSpPr>
          <p:cNvPr id="25" name="phase-B-dot-1">
            <a:extLst xmlns:a="http://schemas.openxmlformats.org/drawingml/2006/main">
              <a:ext uri="{FF2B5EF4-FFF2-40B4-BE49-F238E27FC236}">
                <a16:creationId xmlns:a16="http://schemas.microsoft.com/office/drawing/2014/main" id="{30754A91-567F-4A4E-B11F-152BA688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9E2AF-23E3-44C7-BC4E-A07F6DAC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held-out calibration</a:t>
            </a:r>
          </a:p>
        </p:txBody>
      </p:sp>
      <p:sp>
        <p:nvSpPr>
          <p:cNvPr id="27" name="phase-B-dot-2">
            <a:extLst xmlns:a="http://schemas.openxmlformats.org/drawingml/2006/main">
              <a:ext uri="{FF2B5EF4-FFF2-40B4-BE49-F238E27FC236}">
                <a16:creationId xmlns:a16="http://schemas.microsoft.com/office/drawing/2014/main" id="{90208F8D-8B28-484A-9569-13FAEFB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4B5BC-E43E-4BBC-9353-F8182ABD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known-sample regression</a:t>
            </a:r>
          </a:p>
        </p:txBody>
      </p:sp>
      <p:sp>
        <p:nvSpPr>
          <p:cNvPr id="29" name="phase-B-dot-3">
            <a:extLst xmlns:a="http://schemas.openxmlformats.org/drawingml/2006/main">
              <a:ext uri="{FF2B5EF4-FFF2-40B4-BE49-F238E27FC236}">
                <a16:creationId xmlns:a16="http://schemas.microsoft.com/office/drawing/2014/main" id="{CB310DE9-42B7-4C62-869C-384C40C7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C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1D3222-5FF0-43B0-8595-CF085CF0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GradCAM or approved replacement</a:t>
            </a:r>
          </a:p>
        </p:txBody>
      </p:sp>
      <p:sp>
        <p:nvSpPr>
          <p:cNvPr id="31" name="phase-C">
            <a:extLst xmlns:a="http://schemas.openxmlformats.org/drawingml/2006/main">
              <a:ext uri="{FF2B5EF4-FFF2-40B4-BE49-F238E27FC236}">
                <a16:creationId xmlns:a16="http://schemas.microsoft.com/office/drawing/2014/main" id="{6B5E5465-E83C-4FE8-B8B9-C49CC681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D7"/>
            </a:solidFill>
            <a:prstDash val="solid"/>
          </a:ln>
        </p:spPr>
      </p:sp>
      <p:sp>
        <p:nvSpPr>
          <p:cNvPr id="32" name="phase-C-accent">
            <a:extLst xmlns:a="http://schemas.openxmlformats.org/drawingml/2006/main">
              <a:ext uri="{FF2B5EF4-FFF2-40B4-BE49-F238E27FC236}">
                <a16:creationId xmlns:a16="http://schemas.microsoft.com/office/drawing/2014/main" id="{3925F2D1-B175-40BA-A258-46A30682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hase-C-marker">
            <a:extLst xmlns:a="http://schemas.openxmlformats.org/drawingml/2006/main">
              <a:ext uri="{FF2B5EF4-FFF2-40B4-BE49-F238E27FC236}">
                <a16:creationId xmlns:a16="http://schemas.microsoft.com/office/drawing/2014/main" id="{13AE1F00-AB35-441F-BDAB-D9D59D73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0F42D9-980B-48C0-BBD1-F3B59235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EDB448-CA89-4FC7-9AC3-6ABEC62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0263F"/>
                </a:solidFill>
                <a:latin typeface="Georgia"/>
                <a:ea typeface="Georgia"/>
                <a:cs typeface="Georgia"/>
              </a:rPr>
              <a:t>Deliverables + governance</a:t>
            </a:r>
          </a:p>
        </p:txBody>
      </p:sp>
      <p:sp>
        <p:nvSpPr>
          <p:cNvPr id="36" name="phase-C-dot-0">
            <a:extLst xmlns:a="http://schemas.openxmlformats.org/drawingml/2006/main">
              <a:ext uri="{FF2B5EF4-FFF2-40B4-BE49-F238E27FC236}">
                <a16:creationId xmlns:a16="http://schemas.microsoft.com/office/drawing/2014/main" id="{93D4058B-6A32-4A99-9174-6EE9FAB6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44EB0D-A8A3-4655-B2F4-830725A7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B78"/>
                </a:solidFill>
                <a:latin typeface="Aptos"/>
                <a:ea typeface="Aptos"/>
                <a:cs typeface="Aptos"/>
              </a:rPr>
              <a:t>formal PDF report</a:t>
            </a:r>
          </a:p>
        </p:txBody>
      </p:sp>
      <p:sp>
        <p:nvSpPr>
          <p:cNvPr id="38" name="phase-C-dot-1">
            <a:extLst xmlns:a="http://schemas.openxmlformats.org/drawingml/2006/main">
              <a:ext uri="{FF2B5EF4-FFF2-40B4-BE49-F238E27FC236}">
                <a16:creationId xmlns:a16="http://schemas.microsoft.com/office/drawing/2014/main" id="{FA77D5DC-3FC4-41B7-A1DE-6EC7AA62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2B53AF-3B6E-48A8-9817-D66F1FF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v3.0 / SDS v2.0</a:t>
            </a:r>
          </a:p>
        </p:txBody>
      </p:sp>
      <p:sp>
        <p:nvSpPr>
          <p:cNvPr id="40" name="phase-C-dot-2">
            <a:extLst xmlns:a="http://schemas.openxmlformats.org/drawingml/2006/main">
              <a:ext uri="{FF2B5EF4-FFF2-40B4-BE49-F238E27FC236}">
                <a16:creationId xmlns:a16="http://schemas.microsoft.com/office/drawing/2014/main" id="{42D89FF5-4E38-4EF2-9FEB-DE296534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6FFA65-378B-4CAD-AE80-E0AAA83C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dissertation evidence</a:t>
            </a:r>
          </a:p>
        </p:txBody>
      </p:sp>
      <p:sp>
        <p:nvSpPr>
          <p:cNvPr id="42" name="phase-C-dot-3">
            <a:extLst xmlns:a="http://schemas.openxmlformats.org/drawingml/2006/main">
              <a:ext uri="{FF2B5EF4-FFF2-40B4-BE49-F238E27FC236}">
                <a16:creationId xmlns:a16="http://schemas.microsoft.com/office/drawing/2014/main" id="{A8923955-3676-4030-8DB4-F24DE89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D3D1B2-0C10-4E9F-B911-B3C4265E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supervisor sign-off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B37F8A-B85A-439E-ACDD-113EAB9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Gate A secures exposure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68B5C9-EE24-4839-943E-67B16552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340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9C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9C45"/>
                </a:solidFill>
                <a:latin typeface="Aptos"/>
                <a:ea typeface="Aptos"/>
                <a:cs typeface="Aptos"/>
              </a:rPr>
              <a:t>Gate B proves model behavior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5F949B-1591-4231-A031-9DBFE7E5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73405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B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3B9"/>
                </a:solidFill>
                <a:latin typeface="Aptos"/>
                <a:ea typeface="Aptos"/>
                <a:cs typeface="Aptos"/>
              </a:rPr>
              <a:t>Gate C closes the academic baseline</a:t>
            </a:r>
          </a:p>
        </p:txBody>
      </p:sp>
      <p:sp>
        <p:nvSpPr>
          <p:cNvPr id="4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2EEA658-859A-4622-9F76-CEFDD655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B83C102-E2CA-4D92-8991-6D124988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8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4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E2E25F2-6D23-41FF-AF4F-805E7BBD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7849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E190FAE-65A4-46E1-A062-D14D9BA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95B000-A1D5-4C0D-A87B-B05EE059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F2B041-4813-40EA-8CB8-C7B8D5BC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E7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FE7EC"/>
                </a:solidFill>
                <a:latin typeface="Aptos"/>
                <a:ea typeface="Aptos"/>
                <a:cs typeface="Aptos"/>
              </a:rPr>
              <a:t>RECOMMENDED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6DAA7-D9BA-4D9D-B566-A6386896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Production readiness is achievable after focused closure.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E2823-C3A7-44FA-B388-B7848943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819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FE7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FE7EC"/>
                </a:solidFill>
                <a:latin typeface="Aptos"/>
                <a:ea typeface="Aptos"/>
                <a:cs typeface="Aptos"/>
              </a:rPr>
              <a:t>The platform has crossed the prototype threshold. Approval should now depend on seven evidence gates, each with a retained artifact.</a:t>
            </a:r>
          </a:p>
        </p:txBody>
      </p:sp>
      <p:sp>
        <p:nvSpPr>
          <p:cNvPr id="6" name="gate-G1">
            <a:extLst xmlns:a="http://schemas.openxmlformats.org/drawingml/2006/main">
              <a:ext uri="{FF2B5EF4-FFF2-40B4-BE49-F238E27FC236}">
                <a16:creationId xmlns:a16="http://schemas.microsoft.com/office/drawing/2014/main" id="{73332945-9DA4-4126-BB43-A956260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A69"/>
          </a:solidFill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97C7D-D07A-4ED6-8830-1885EDD4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G1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13D31-3FC8-42FB-B3BD-1705BAA8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Functional</a:t>
            </a:r>
          </a:p>
        </p:txBody>
      </p:sp>
      <p:sp>
        <p:nvSpPr>
          <p:cNvPr id="9" name="gate-G2">
            <a:extLst xmlns:a="http://schemas.openxmlformats.org/drawingml/2006/main">
              <a:ext uri="{FF2B5EF4-FFF2-40B4-BE49-F238E27FC236}">
                <a16:creationId xmlns:a16="http://schemas.microsoft.com/office/drawing/2014/main" id="{C0983EF2-71B7-4E28-B7D4-7A06A827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623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3"/>
          </a:solidFill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2C551-24A9-4EA0-A33C-1627CDD6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G2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90956-B894-4F16-A045-618FE68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14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Security</a:t>
            </a:r>
          </a:p>
        </p:txBody>
      </p:sp>
      <p:sp>
        <p:nvSpPr>
          <p:cNvPr id="12" name="gate-G3">
            <a:extLst xmlns:a="http://schemas.openxmlformats.org/drawingml/2006/main">
              <a:ext uri="{FF2B5EF4-FFF2-40B4-BE49-F238E27FC236}">
                <a16:creationId xmlns:a16="http://schemas.microsoft.com/office/drawing/2014/main" id="{F0A21A2D-C8DF-4B4D-968A-41E4DBDF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3"/>
          </a:solidFill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2E58B-C726-418E-B7DD-7DCBA6D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G3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A77C4-B745-4E44-9D1E-708E3F8E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 quality</a:t>
            </a:r>
          </a:p>
        </p:txBody>
      </p:sp>
      <p:sp>
        <p:nvSpPr>
          <p:cNvPr id="15" name="gate-G4">
            <a:extLst xmlns:a="http://schemas.openxmlformats.org/drawingml/2006/main">
              <a:ext uri="{FF2B5EF4-FFF2-40B4-BE49-F238E27FC236}">
                <a16:creationId xmlns:a16="http://schemas.microsoft.com/office/drawing/2014/main" id="{931A2322-F595-4A7A-BB62-941DE3C2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3"/>
          </a:solidFill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1D4B2-7344-4476-B568-6AB620B3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G4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DF0BB-BC03-44DC-B162-F5503215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14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Performance</a:t>
            </a:r>
          </a:p>
        </p:txBody>
      </p:sp>
      <p:sp>
        <p:nvSpPr>
          <p:cNvPr id="18" name="gate-G5">
            <a:extLst xmlns:a="http://schemas.openxmlformats.org/drawingml/2006/main">
              <a:ext uri="{FF2B5EF4-FFF2-40B4-BE49-F238E27FC236}">
                <a16:creationId xmlns:a16="http://schemas.microsoft.com/office/drawing/2014/main" id="{8B632930-CD77-4CCC-8DA2-0E6424AC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3"/>
          </a:solidFill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461D2-F333-4E37-BA0F-125094F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G5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A7396-5DC5-463F-88B7-3E7A684A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Reliability</a:t>
            </a:r>
          </a:p>
        </p:txBody>
      </p:sp>
      <p:sp>
        <p:nvSpPr>
          <p:cNvPr id="21" name="gate-G6">
            <a:extLst xmlns:a="http://schemas.openxmlformats.org/drawingml/2006/main">
              <a:ext uri="{FF2B5EF4-FFF2-40B4-BE49-F238E27FC236}">
                <a16:creationId xmlns:a16="http://schemas.microsoft.com/office/drawing/2014/main" id="{DD68219E-0F59-4894-9C09-5DF98C5F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529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3"/>
          </a:solidFill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D9A23-EEB2-4E46-8A0C-0443F71F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G6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9BF61-13FB-43FD-BF4C-F46A27EA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053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Documentation</a:t>
            </a:r>
          </a:p>
        </p:txBody>
      </p:sp>
      <p:sp>
        <p:nvSpPr>
          <p:cNvPr id="24" name="gate-G7">
            <a:extLst xmlns:a="http://schemas.openxmlformats.org/drawingml/2006/main">
              <a:ext uri="{FF2B5EF4-FFF2-40B4-BE49-F238E27FC236}">
                <a16:creationId xmlns:a16="http://schemas.microsoft.com/office/drawing/2014/main" id="{8A3CC06E-1A63-4563-B860-833E2278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529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3"/>
          </a:solidFill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CEDA8-5BAD-47E8-A9C4-C84BFC0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243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F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8F78"/>
                </a:solidFill>
                <a:latin typeface="Aptos"/>
                <a:ea typeface="Aptos"/>
                <a:cs typeface="Aptos"/>
              </a:rPr>
              <a:t>G7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2E06D-7F2B-4790-8F6B-01A771EF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Deployment</a:t>
            </a:r>
          </a:p>
        </p:txBody>
      </p:sp>
      <p:sp>
        <p:nvSpPr>
          <p:cNvPr id="27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6DE4BAE7-7507-4249-A272-1F16497D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026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F68963-861B-4B52-870C-EC5C9694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6F5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6F51"/>
                </a:solidFill>
                <a:latin typeface="Aptos"/>
                <a:ea typeface="Aptos"/>
                <a:cs typeface="Aptos"/>
              </a:rPr>
              <a:t>NEXT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29CAB8-9116-4FC7-945A-D0EF5004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57825"/>
            <a:ext cx="842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63F"/>
                </a:solidFill>
                <a:latin typeface="Aptos"/>
                <a:ea typeface="Aptos"/>
                <a:cs typeface="Aptos"/>
              </a:rPr>
              <a:t>Approve the revised baseline and verify Gate A evidence before production exposure.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D98A572-AE12-4168-8E6C-7D7C3311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60E8C6B-6F02-4440-B5C7-9680455A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A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8BAC9"/>
                </a:solidFill>
                <a:latin typeface="Aptos"/>
                <a:ea typeface="Aptos"/>
                <a:cs typeface="Aptos"/>
              </a:rPr>
              <a:t>SRS v2.0 • SDS v1.0 • repository evidence • 20 Sep 2026</a:t>
            </a:r>
          </a:p>
        </p:txBody>
      </p:sp>
      <p:sp>
        <p:nvSpPr>
          <p:cNvPr id="32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C24A001-9DAF-416B-B974-EAFBED0E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334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2026-09-20T10:30:28.3280000Z</dcterms:created>
  <dcterms:modified xsi:type="dcterms:W3CDTF">2026-09-20T10:30:28.3280000Z</dcterms:modified>
</coreProperties>
</file>